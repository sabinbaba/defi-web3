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13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NGOMA COLLEGE  |  RWANDA POLYTECHNIC  |  ITLBT801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653" y="585216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OPTIMIZATION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306324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 |  BTech Year 4  |  Level 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1920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4187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4160520"/>
            <a:ext cx="1920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4187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316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4160520"/>
            <a:ext cx="1920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4187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4160520"/>
            <a:ext cx="1920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4187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2084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5368637" y="585216"/>
            <a:ext cx="44912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GROUP 2 MEMBERS:</a:t>
            </a:r>
          </a:p>
          <a:p>
            <a:r>
              <a:rPr lang="en-US" dirty="0">
                <a:highlight>
                  <a:srgbClr val="00FF00"/>
                </a:highlight>
              </a:rPr>
              <a:t>1</a:t>
            </a:r>
            <a:r>
              <a:rPr lang="en-US" b="1" dirty="0">
                <a:highlight>
                  <a:srgbClr val="00FF00"/>
                </a:highlight>
              </a:rPr>
              <a:t>. </a:t>
            </a:r>
            <a:r>
              <a:rPr lang="en-US" b="1" dirty="0">
                <a:solidFill>
                  <a:schemeClr val="bg2"/>
                </a:solidFill>
              </a:rPr>
              <a:t>NTAKIRUTIMANA </a:t>
            </a:r>
            <a:r>
              <a:rPr lang="en-US" b="1" dirty="0" err="1">
                <a:solidFill>
                  <a:schemeClr val="bg2"/>
                </a:solidFill>
              </a:rPr>
              <a:t>sabin</a:t>
            </a:r>
            <a:endParaRPr lang="en-US" b="1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2. CYIZERE Caline</a:t>
            </a:r>
          </a:p>
          <a:p>
            <a:r>
              <a:rPr lang="en-US" dirty="0">
                <a:solidFill>
                  <a:schemeClr val="bg1"/>
                </a:solidFill>
              </a:rPr>
              <a:t>3. TUYISHIME Elisabeth</a:t>
            </a:r>
          </a:p>
          <a:p>
            <a:r>
              <a:rPr lang="en-US" dirty="0">
                <a:solidFill>
                  <a:schemeClr val="bg1"/>
                </a:solidFill>
              </a:rPr>
              <a:t>4. HAKUZIMANA jean de </a:t>
            </a:r>
            <a:r>
              <a:rPr lang="en-US" dirty="0" err="1">
                <a:solidFill>
                  <a:schemeClr val="bg1"/>
                </a:solidFill>
              </a:rPr>
              <a:t>dieu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EXPLORE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4 Parts, 14 Days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2029968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0789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25296" y="1097280"/>
            <a:ext cx="914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25296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00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" y="237744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3317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Measurement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" y="28803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8346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Tracking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" y="338328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" y="38862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840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Tenderly + Grafana Setup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14016" y="105156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14016" y="1051560"/>
            <a:ext cx="202996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14016" y="10789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38144" y="1097280"/>
            <a:ext cx="914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38144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05456" y="1600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3744" y="23774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88336" y="23317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 Attack Fix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23744" y="288036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88336" y="28346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Overflow Fix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23744" y="33832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88336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Bug Reports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23744" y="38862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88336" y="3840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26864" y="105156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26864" y="1051560"/>
            <a:ext cx="202996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26864" y="10789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650992" y="1097280"/>
            <a:ext cx="914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50992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18304" y="1600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36592" y="237744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01184" y="23317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Strategy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28803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01184" y="28346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Integration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383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01184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Optimization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36592" y="38862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01184" y="3840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Pattern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39712" y="105156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39712" y="1051560"/>
            <a:ext cx="202996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39712" y="10789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863840" y="1097280"/>
            <a:ext cx="914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863840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31152" y="16002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CHANGES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49440" y="23774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14032" y="23317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49440" y="288036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114032" y="28346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Gas Report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49440" y="3383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14032" y="33375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49440" y="38862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114032" y="3840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320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VITAL SIGNS OF BLOCKCHAIN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432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 Second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24688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Ethereum: 15–30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transactions the blockchain processes every second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24688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891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TPS = Transactions ÷ Time (seconds)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7432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9476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476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874520"/>
            <a:ext cx="24688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Ethereum: ~3 min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3756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transaction submitted to fully confirmed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337560"/>
            <a:ext cx="24688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Propagation → Mempool → Block → Finality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72200" y="1051560"/>
            <a:ext cx="27432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72200" y="10515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⛽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6656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6560" y="1481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Fee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1874520"/>
            <a:ext cx="24688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Ethereum: Gwei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9360" y="2606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paid to validators for executing your smart contract code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3337560"/>
            <a:ext cx="246888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Fee = Gas Used × Gas Price (Gwei)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—  MONITORING TOOLS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work together to give you full visibility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560320" cy="457200"/>
          </a:xfrm>
          <a:prstGeom prst="rect">
            <a:avLst/>
          </a:prstGeom>
          <a:solidFill>
            <a:srgbClr val="E55F3C"/>
          </a:solidFill>
          <a:ln w="12700">
            <a:solidFill>
              <a:srgbClr val="E55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247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Collector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Nurse taking patient vitals"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91440" cy="91440"/>
          </a:xfrm>
          <a:prstGeom prst="ellipse">
            <a:avLst/>
          </a:prstGeom>
          <a:solidFill>
            <a:srgbClr val="E55F3C"/>
          </a:solidFill>
          <a:ln w="12700">
            <a:solidFill>
              <a:srgbClr val="E55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585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metrics every 15 seconds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91440" cy="91440"/>
          </a:xfrm>
          <a:prstGeom prst="ellipse">
            <a:avLst/>
          </a:prstGeom>
          <a:solidFill>
            <a:srgbClr val="E55F3C"/>
          </a:solidFill>
          <a:ln w="12700">
            <a:solidFill>
              <a:srgbClr val="E55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CPU, Memory, TPS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182112"/>
            <a:ext cx="91440" cy="91440"/>
          </a:xfrm>
          <a:prstGeom prst="ellipse">
            <a:avLst/>
          </a:prstGeom>
          <a:solidFill>
            <a:srgbClr val="E55F3C"/>
          </a:solidFill>
          <a:ln w="12700">
            <a:solidFill>
              <a:srgbClr val="E55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36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with timestamps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21024"/>
            <a:ext cx="91440" cy="91440"/>
          </a:xfrm>
          <a:prstGeom prst="ellipse">
            <a:avLst/>
          </a:prstGeom>
          <a:solidFill>
            <a:srgbClr val="E55F3C"/>
          </a:solidFill>
          <a:ln w="12700">
            <a:solidFill>
              <a:srgbClr val="E55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57530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data to Grafana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2834640"/>
            <a:ext cx="5029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80360" y="26060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29000" y="1097280"/>
            <a:ext cx="2560320" cy="45720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11247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Visualizer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Doctor reading the charts"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66160" y="2304288"/>
            <a:ext cx="91440" cy="9144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03320" y="22585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real-time dashboards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66160" y="2743200"/>
            <a:ext cx="91440" cy="9144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3320" y="2697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TPS &amp; latency graphs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66160" y="3182112"/>
            <a:ext cx="91440" cy="9144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03320" y="3136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Memory charts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66160" y="3621024"/>
            <a:ext cx="91440" cy="91440"/>
          </a:xfrm>
          <a:prstGeom prst="ellipse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03320" y="357530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alerts when danger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1097280"/>
            <a:ext cx="2423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2240" y="1097280"/>
            <a:ext cx="24231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11247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1600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Monitor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1828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Contract Specialist"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9400" y="230428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66560" y="225856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gas profiling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29400" y="274320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66560" y="269748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debugger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9400" y="318211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0" y="313639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reason analysis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29400" y="362102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66560" y="357530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before sending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709160"/>
            <a:ext cx="86410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4709160"/>
            <a:ext cx="8641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= Infrastructure health  |  Tenderly = Smart contract health  |  Both needed for complete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2560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BUG-001: REENTRANCY ATTACK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dangerous smart contract vulnerability  |  The DAO Hack 2016 = $60 Million stolen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114800" cy="393192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024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PATTERN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2926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48132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813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calls withdraw()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29260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88366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1883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checks balance 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29260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2860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SENDS ETH ← DANGER!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88336"/>
            <a:ext cx="29260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6883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6883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Attacker's receive() AUTO-TRIGGERS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29260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09067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0906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withdraw() AGAIN immediately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93008"/>
            <a:ext cx="29260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49300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4930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not updated yet → passes!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95344"/>
            <a:ext cx="29260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89534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8953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drained completely 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1005840"/>
            <a:ext cx="4343400" cy="3931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1005840"/>
            <a:ext cx="43434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102412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FIX — CEI PATTERN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1508760"/>
            <a:ext cx="5029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15087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03520" y="1508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1737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conditions first (require statements)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286000"/>
            <a:ext cx="5029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22860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303520" y="22860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25146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ALL state variables BEFORE any ETH transfer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063240"/>
            <a:ext cx="5029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30632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303520" y="30632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3291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ETH or call external contracts LAST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886200"/>
            <a:ext cx="402336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PROTECTION — ReentrancyGuard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bool locked = false  →  locked=true before function  →  locked=false after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Re-entry attempt: locked=true → BLOCKED automatically 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BUG-002: INTEGER OVERFLOW &amp; UNDERFLOW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BatchOverflow Hack 2018 = $300 Million affected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1605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0332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— Going Above Maximum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Analogy: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 goes 1→12, then wraps to 1 again.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 goes 0→255, then wraps to 0!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374904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uint8:  255 + 1  =  0  ← OVERFLOW!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+ 2 = 1   |   255 + 3 = 2   |   wraps around!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246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520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Solidity 0.8+ (auto-reverts on overflow)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SafeMath library (.add .mul .sub)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251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Manual check: result &gt;= a after addition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2519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03327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— Going Below Minimum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below 0 wraps to maximum value: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828800"/>
            <a:ext cx="384048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uint8:  0 - 1  =  255  ← UNDERFLOW!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Check (common mistake):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697480"/>
            <a:ext cx="384048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715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require(balance - amount &gt;= 0)  </a:t>
            </a: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ALWAYS TRUE!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 wraps to huge number ≥ 0 always passes 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429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check: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703320"/>
            <a:ext cx="384048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703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require(balance &gt;= amount)  ← Check BEFORE subtracting 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Always use Solidity 0.8+ which automatically reverts on overflow/underflow!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2560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—  OPTIMIZATION STRATEGIES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 |  Caching  |  The Graph  |  IPFS  |  Gas Optimization  |  Proxy Pattern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7889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27889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115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SHARDING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blockchain into parallel shards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755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shard = 128+ nodes processing in parallel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2148840"/>
            <a:ext cx="25603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167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Ethereum: 30 TPS → 64 shards = 1,920+ TPS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005840"/>
            <a:ext cx="27889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82696" y="1115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CACHING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82696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repeated data in fast Redis memory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82696" y="1755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cache first → miss only fetches blockchain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82696" y="2148840"/>
            <a:ext cx="25603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2167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2ms response vs 2000ms blockchain query = 1000x faster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005840"/>
            <a:ext cx="27889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3056" y="100584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2784" y="1115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GRAPH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for blockchain data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72784" y="1755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contract events → GraphQL queries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72784" y="2148840"/>
            <a:ext cx="25603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0216" y="2167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Complex queries: Hours → Milliseconds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3017520"/>
            <a:ext cx="27889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" y="301752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IPFS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2608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file storage off-chain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file on IPFS, CID hash on blockchain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" y="4160520"/>
            <a:ext cx="25603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178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$40,000/MB on-chain → $0.51 total with IPFS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72968" y="3017520"/>
            <a:ext cx="27889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72968" y="301752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82696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 GAS OPTIMIZE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82696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computational cost of functions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82696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variables, minimize SSTORE, use external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82696" y="4160520"/>
            <a:ext cx="25603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10128" y="4178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deposit(): 116,399 gas → ~25,000 gas saved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63056" y="3017520"/>
            <a:ext cx="27889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63056" y="301752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72784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PROXY PATTERN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72784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smart contracts upgradeable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72784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stores data, Logic has code (delegatecall)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72784" y="4160520"/>
            <a:ext cx="256032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00216" y="41788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 bugs without losing user funds or data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—  PROXY PATTERN (Upgradeable Contracts)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cannot be changed once deployed — Proxy Pattern solves this!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3840480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38404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PROXY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Bug found → contract FROZEN forever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70992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Must deploy NEW contract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97510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$5M user funds stuck in old contract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24028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Users must manually migrate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505456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Platform reputation destroyed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34340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3434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02412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PROXY PATTERN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44475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Bug found → fix Logic contract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170992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Point Proxy to new Logic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197510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funds stay safe in Proxy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224028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Users notice NOTHING changed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505456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Platform continues smoothly 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" y="2926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delegatecall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" y="3291840"/>
            <a:ext cx="146304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" y="3291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(always same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91640" y="365760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34290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3246120"/>
            <a:ext cx="201168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68880" y="32644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CONTRACT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0xABCD (never changes)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365760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26280" y="34290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delegatecall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303520" y="3246120"/>
            <a:ext cx="164592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0" y="326440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V1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0x1234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 replace)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95160" y="3657600"/>
            <a:ext cx="457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67728" y="34290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498080" y="3246120"/>
            <a:ext cx="14630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0" y="326440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V2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0x5678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version)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4206240"/>
            <a:ext cx="8778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RULES: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49884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 order of state variables  |  Never use constructors (use initialize())  |  Only add new variables at the END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2560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—  GAS OPTIMIZATION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6400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Hardhat Gas Reporter Output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554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(gas)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051560"/>
            <a:ext cx="1554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(gas)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051560"/>
            <a:ext cx="13716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0" y="1051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051560"/>
            <a:ext cx="13716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051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Reduction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481328"/>
            <a:ext cx="219456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1481328"/>
            <a:ext cx="155448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14813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116,399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1481328"/>
            <a:ext cx="155448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14813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~25,000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23560" y="1481328"/>
            <a:ext cx="1371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1481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~91,399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1481328"/>
            <a:ext cx="1371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1481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1984248"/>
            <a:ext cx="219456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19842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23160" y="1984248"/>
            <a:ext cx="15544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3160" y="1984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47,906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023360" y="1984248"/>
            <a:ext cx="15544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23360" y="19842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23560" y="1984248"/>
            <a:ext cx="13716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23560" y="19842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~27,906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40880" y="1984248"/>
            <a:ext cx="13716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40880" y="19842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82880" y="2487168"/>
            <a:ext cx="219456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" y="24871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storeDocument()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23160" y="2487168"/>
            <a:ext cx="155448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423160" y="24871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67,403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023360" y="2487168"/>
            <a:ext cx="155448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23360" y="24871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23560" y="2487168"/>
            <a:ext cx="1371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23560" y="2487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~37,403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40880" y="2487168"/>
            <a:ext cx="137160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40880" y="2487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82880" y="28346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GAS OPTIMIZATION TECHNIQUES APPLIED: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82880" y="3246120"/>
            <a:ext cx="27889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82880" y="3246120"/>
            <a:ext cx="32004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82880" y="324612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66928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→ external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6928" y="35570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calldata, saves ~200-500 gas per call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172968" y="3246120"/>
            <a:ext cx="27889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172968" y="3246120"/>
            <a:ext cx="32004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72968" y="324612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557016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SSTORE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557016" y="35570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reference once, modify in memory, save once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63056" y="3246120"/>
            <a:ext cx="27889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163056" y="3246120"/>
            <a:ext cx="320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163056" y="324612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547104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Packing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47104" y="35570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uint128+uint64+bool into one 32-byte slot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82880" y="4023360"/>
            <a:ext cx="27889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82880" y="4023360"/>
            <a:ext cx="32004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82880" y="402336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66928" y="40690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Storage Vars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6928" y="43342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once into local variable, reuse (saves 2100 gas each)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172968" y="4023360"/>
            <a:ext cx="27889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172968" y="4023360"/>
            <a:ext cx="32004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172968" y="402336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3557016" y="40690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vs Storage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557016" y="43342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cost 375 gas vs 20,000 for storage writes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63056" y="4023360"/>
            <a:ext cx="27889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163056" y="4023360"/>
            <a:ext cx="320040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163056" y="4023360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547104" y="40690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547104" y="43342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InsufficientBalance() cheaper than require strings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Task 9 deliverables achieved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1168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1430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82880" y="2057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005840"/>
            <a:ext cx="201168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11430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331720" y="2057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4480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BUILT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89888"/>
            <a:ext cx="10972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DeFiVaultV1.sol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upgradeable vault — V1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773936"/>
            <a:ext cx="10972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DeFiVaultV2.sol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956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vault with emergency stop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157984"/>
            <a:ext cx="10972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1396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VulnerableVault.sol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3408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buggy contract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542032"/>
            <a:ext cx="10972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25237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SecureVault.sol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7249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and secured contract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" y="310896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82880" y="3474720"/>
            <a:ext cx="320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" y="34747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34747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PDF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36576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data, bug reports, optimization summaries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474720"/>
            <a:ext cx="320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4747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93208" y="34747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93208" y="36576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contracts + scripts + tests + MAINTENANCE.md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3977640"/>
            <a:ext cx="320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" y="39776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6928" y="3977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Unit Tests Passing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4160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deposit, withdraw, upgrade, security tests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3977640"/>
            <a:ext cx="320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9776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93208" y="3977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Report Before/After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93208" y="4160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Gas Reporter output documented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" y="4480560"/>
            <a:ext cx="320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82880" y="44805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66928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Integration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4663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stored on Pinata, CID stored on blockchain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4480560"/>
            <a:ext cx="320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09160" y="44805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093208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Upgrade V1→V2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93208" y="4663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preserved, version confirmed, users unaffected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SYSTEM MAINTENANCE &amp; PERFORMANCE OPTIMIZATION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224028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6916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0358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2423160"/>
            <a:ext cx="16916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248716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97480" y="30358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16916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48716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30358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29400" y="2423160"/>
            <a:ext cx="16916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248716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629400" y="30358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ITLBT801  |  Ngoma College  |  Rwanda Polytechnic  |  BTech Year 4 Level 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— Task 9 Assignment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1293</Words>
  <Application>Microsoft Office PowerPoint</Application>
  <PresentationFormat>On-screen Show (16:9)</PresentationFormat>
  <Paragraphs>313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System Maintenance &amp; Performance Optimization</dc:title>
  <dc:subject>PptxGenJS Presentation</dc:subject>
  <dc:creator>Ngoma College — Rwanda Polytechnic</dc:creator>
  <cp:lastModifiedBy>Parfaite NIYONSABA</cp:lastModifiedBy>
  <cp:revision>3</cp:revision>
  <dcterms:created xsi:type="dcterms:W3CDTF">2026-04-15T10:10:50Z</dcterms:created>
  <dcterms:modified xsi:type="dcterms:W3CDTF">2026-04-16T15:13:36Z</dcterms:modified>
</cp:coreProperties>
</file>